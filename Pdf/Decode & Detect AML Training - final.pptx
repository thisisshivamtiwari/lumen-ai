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3" r:id="rId34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B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PRE-HACKATHON TRAINING · 23 OCTOBER 2026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031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Decode &amp; Detect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557290"/>
            <a:ext cx="850265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laundering, transaction fraud and how to spot them on a public ledger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60740"/>
            <a:ext cx="34362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Muhamed Retkoceri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71663" y="5760740"/>
            <a:ext cx="41075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Hackathon: 24 October · IDEALondon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PART OF THE SESSION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From “what is laundering?” to a valid submission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492276"/>
            <a:ext cx="3414167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749451"/>
            <a:ext cx="29868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3110111"/>
            <a:ext cx="29868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 vs laundering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88892" y="2492276"/>
            <a:ext cx="3414167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6067" y="2749451"/>
            <a:ext cx="29868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46067" y="3110111"/>
            <a:ext cx="29868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AML teams do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61809" y="2492276"/>
            <a:ext cx="3414216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8984" y="2749451"/>
            <a:ext cx="298686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8984" y="3110111"/>
            <a:ext cx="315386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Patterns on a public ledger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5975" y="3800326"/>
            <a:ext cx="3414167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3150" y="4057501"/>
            <a:ext cx="29868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3150" y="4418161"/>
            <a:ext cx="29868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 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88892" y="3800326"/>
            <a:ext cx="3414167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6067" y="4057501"/>
            <a:ext cx="29868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6067" y="4418161"/>
            <a:ext cx="29868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Scoring, rules, submission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61809" y="3800326"/>
            <a:ext cx="3414216" cy="1149300"/>
          </a:xfrm>
          <a:prstGeom prst="roundRect">
            <a:avLst>
              <a:gd name="adj" fmla="val 85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8984" y="4057501"/>
            <a:ext cx="298686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18984" y="4418161"/>
            <a:ext cx="298686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to approach the day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FRAUD VS LAUNDERING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Two different crimes, often linked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68900" cy="2962821"/>
          </a:xfrm>
          <a:prstGeom prst="roundRect">
            <a:avLst>
              <a:gd name="adj" fmla="val 332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2246561"/>
            <a:ext cx="468953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 fraud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3950" y="2708821"/>
            <a:ext cx="46895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Someone is tricked or robbed. There is a victim and a loss.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2182" y="3404741"/>
            <a:ext cx="460368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Scam and phishing payments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 takeover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and payment fraud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3950" y="4331841"/>
            <a:ext cx="468953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“Should this payment happen at all?”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7600" y="1941761"/>
            <a:ext cx="5175250" cy="2956471"/>
          </a:xfrm>
          <a:prstGeom prst="roundRect">
            <a:avLst>
              <a:gd name="adj" fmla="val 3222"/>
            </a:avLst>
          </a:prstGeom>
          <a:solidFill>
            <a:srgbClr val="FDFCF8"/>
          </a:solidFill>
          <a:ln w="12700">
            <a:solidFill>
              <a:srgbClr val="D99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8750" y="2252911"/>
            <a:ext cx="468953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laundering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8750" y="2715171"/>
            <a:ext cx="4689539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Criminal money is moved until it looks clean. The goal is to hide where it came from.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6982" y="3411091"/>
            <a:ext cx="460368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Proceeds of fraud, drugs, corruption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Passed through many accounts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Converted between assets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08750" y="4338191"/>
            <a:ext cx="468953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“Where did this money really come from?”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520938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Stolen money from fraud usually needs laundering next.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hackathon is about laundering.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WHAT AML TEAMS 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Anti-money laundering is a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2005310" cy="1804591"/>
          </a:xfrm>
          <a:prstGeom prst="roundRect">
            <a:avLst>
              <a:gd name="adj" fmla="val 545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144961"/>
            <a:ext cx="164336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the customer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708821"/>
            <a:ext cx="16433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checks when an account opens.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4635" y="1938586"/>
            <a:ext cx="2005360" cy="1804591"/>
          </a:xfrm>
          <a:prstGeom prst="roundRect">
            <a:avLst>
              <a:gd name="adj" fmla="val 5454"/>
            </a:avLst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1010" y="2144961"/>
            <a:ext cx="164341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 payments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61010" y="2708821"/>
            <a:ext cx="16434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Flag flows that look wrong.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61010" y="3247281"/>
            <a:ext cx="1592610" cy="289520"/>
          </a:xfrm>
          <a:custGeom>
            <a:avLst/>
            <a:gdLst/>
            <a:ahLst/>
            <a:cxnLst/>
            <a:rect l="l" t="t" r="r" b="b"/>
            <a:pathLst>
              <a:path w="1592610" h="289520">
                <a:moveTo>
                  <a:pt x="144760" y="0"/>
                </a:moveTo>
                <a:lnTo>
                  <a:pt x="1447850" y="0"/>
                </a:lnTo>
                <a:arcTo hR="144760" wR="144760" stAng="16200000" swAng="5400000"/>
                <a:lnTo>
                  <a:pt x="1592610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E8B04A"/>
          </a:solidFill>
          <a:ln/>
        </p:spPr>
        <p:txBody>
          <a:bodyPr wrap="square" lIns="88900" tIns="38100" rIns="38100" bIns="1270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job tomorrow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93345" y="1938586"/>
            <a:ext cx="2005310" cy="1804591"/>
          </a:xfrm>
          <a:prstGeom prst="roundRect">
            <a:avLst>
              <a:gd name="adj" fmla="val 545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9720" y="2144961"/>
            <a:ext cx="164336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Investigate alerts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99720" y="2708821"/>
            <a:ext cx="16433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analyst reviews each one by hand.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32005" y="1938586"/>
            <a:ext cx="2005360" cy="1804591"/>
          </a:xfrm>
          <a:prstGeom prst="roundRect">
            <a:avLst>
              <a:gd name="adj" fmla="val 545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38380" y="2144961"/>
            <a:ext cx="16434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38380" y="2464991"/>
            <a:ext cx="1643410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UK: a Suspicious Activity Report to the NCA’s Financial Intelligence Unit.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70715" y="1938586"/>
            <a:ext cx="2005310" cy="1804591"/>
          </a:xfrm>
          <a:prstGeom prst="roundRect">
            <a:avLst>
              <a:gd name="adj" fmla="val 545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77090" y="2144961"/>
            <a:ext cx="16433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records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77090" y="2464991"/>
            <a:ext cx="16433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regulators can check the work.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051151"/>
            <a:ext cx="10566400" cy="1076920"/>
          </a:xfrm>
          <a:prstGeom prst="roundRect">
            <a:avLst>
              <a:gd name="adj" fmla="val 9434"/>
            </a:avLst>
          </a:prstGeom>
          <a:solidFill>
            <a:srgbClr val="ECE8DD"/>
          </a:solidFill>
          <a:ln/>
        </p:spPr>
        <p:txBody>
          <a:bodyPr wrap="square" lIns="275042" tIns="224242" rIns="0" bIns="1988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Analysts can only review so many alerts a day. A good model puts the real cases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the top of their queue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That is exactly what tomorrow’s score measures.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UK law: Proceeds of Crime Act 2002 · Money Laundering Regulations 2017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WHAT AML TEAMS 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three stages of laundering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409950" cy="2279551"/>
          </a:xfrm>
          <a:prstGeom prst="roundRect">
            <a:avLst>
              <a:gd name="adj" fmla="val 4318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95761"/>
            <a:ext cx="29824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· Placement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3150" y="2546251"/>
            <a:ext cx="298246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Dirty money gets 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2922141"/>
            <a:ext cx="298246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cash split into small deposits.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3150" y="3254871"/>
            <a:ext cx="298246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Ledger: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crypto bought through an exchange or a mule’s wallet.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7850" y="1941761"/>
            <a:ext cx="3416300" cy="2273201"/>
          </a:xfrm>
          <a:prstGeom prst="roundRect">
            <a:avLst>
              <a:gd name="adj" fmla="val 4190"/>
            </a:avLst>
          </a:prstGeom>
          <a:solidFill>
            <a:srgbClr val="FDFCF8"/>
          </a:solidFill>
          <a:ln w="12700">
            <a:solidFill>
              <a:srgbClr val="D997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8200" y="2202111"/>
            <a:ext cx="29824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Layering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8200" y="2552601"/>
            <a:ext cx="298246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Moved to break the trail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8200" y="2928491"/>
            <a:ext cx="298246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wires across accounts and countries.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8200" y="3492351"/>
            <a:ext cx="298246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Ledger: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quick hops, splits, merges and currency conversions.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66075" y="1938586"/>
            <a:ext cx="3409950" cy="2279551"/>
          </a:xfrm>
          <a:prstGeom prst="roundRect">
            <a:avLst>
              <a:gd name="adj" fmla="val 4318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3250" y="2195761"/>
            <a:ext cx="29824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3250" y="2546251"/>
            <a:ext cx="298246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Comes back looking clean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3250" y="2922141"/>
            <a:ext cx="3149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property, fake business income.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3250" y="3254871"/>
            <a:ext cx="298246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Ledger:</a:t>
            </a: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cashed out through an exchange, or spent.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52611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 data is mostly about </a:t>
            </a: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layering</a:t>
            </a:r>
            <a:r>
              <a: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money moving between wallets.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043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B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222500"/>
            <a:ext cx="9810750" cy="2128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 a public ledger every payment is visible. Who is behind each wallet is not.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630390"/>
            <a:ext cx="91567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 you judge by behaviour: timing, amounts, and who connects to whom.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the data shows, and what it hides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2597150"/>
          </a:xfrm>
          <a:prstGeom prst="roundRect">
            <a:avLst>
              <a:gd name="adj" fmla="val 379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" y="225926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4950" y="2246561"/>
            <a:ext cx="16680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 see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95070" y="2703761"/>
            <a:ext cx="4617339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Sender and receiver wallet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Amount and which asset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time of each payment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Conversions between assets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wallet’s history in the window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00775" y="1938586"/>
            <a:ext cx="5175250" cy="2597150"/>
          </a:xfrm>
          <a:prstGeom prst="roundRect">
            <a:avLst>
              <a:gd name="adj" fmla="val 3790"/>
            </a:avLst>
          </a:prstGeom>
          <a:solidFill>
            <a:srgbClr val="ECE8DD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08750" y="2259261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9750" y="2246561"/>
            <a:ext cx="21313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cannot see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79870" y="2703761"/>
            <a:ext cx="4617339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Names or identity checks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payment was made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 accounts or cash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outside the 7-day window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XRP Ledger in six terms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1956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A wallet is an address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398961"/>
            <a:ext cx="4978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string starting with r and no name. You judge behaviour, not identity.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2675" y="193858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4450" y="211956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XRP comes in drops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94450" y="239896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XRP = 1,000,000 drops. For XRP rows,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SOURCE_VALUE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in drops.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926606"/>
            <a:ext cx="52133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310758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 token is issuer + 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386981"/>
            <a:ext cx="48922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USD, GBP and EUR here are IOUs from an issuer. USD from issuer A and USD from issuer B are two different assets.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2675" y="2926606"/>
            <a:ext cx="52133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4450" y="310758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A conversion is one transaction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4450" y="338698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sender pays one asset and the receiver gets another, via one or two liquidity providers: 2 or 3 transfer rows.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412794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" y="430892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Fees are burned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7750" y="458832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transaction destroys 10 to 15 drops of XRP, even token payments.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2675" y="412794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4450" y="430892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SendMax is a ceiling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4450" y="458832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DELIVERED_AMOUNT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what arrived; the first leg, what was really paid.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of this holds on the real ledger; the challenge data keeps the same rules.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Laundering shapes, part 1: collect and spread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2520950" cy="2594570"/>
          </a:xfrm>
          <a:prstGeom prst="roundRect">
            <a:avLst>
              <a:gd name="adj" fmla="val 390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Fan-in: four wallets pay into o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94161"/>
            <a:ext cx="2159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Fan-in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1550" y="3684191"/>
            <a:ext cx="2276094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wallets pay into one. Often mules feeding a collector.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5675" y="1938586"/>
            <a:ext cx="2520950" cy="2594570"/>
          </a:xfrm>
          <a:prstGeom prst="roundRect">
            <a:avLst>
              <a:gd name="adj" fmla="val 390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Fan-out: one wallet pays fou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1250" y="2094161"/>
            <a:ext cx="215900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12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Fan-out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12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wallet pays many. Breaks a large sum into pieces.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5375" y="1938586"/>
            <a:ext cx="2520950" cy="2594570"/>
          </a:xfrm>
          <a:prstGeom prst="roundRect">
            <a:avLst>
              <a:gd name="adj" fmla="val 390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Scatter-gather: one wallet splits across three middlemen that merge into o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30950" y="2094161"/>
            <a:ext cx="2159000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309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Scatter-gather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309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across middlemen, then merged again downstream.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55075" y="1938586"/>
            <a:ext cx="2520950" cy="2594570"/>
          </a:xfrm>
          <a:prstGeom prst="roundRect">
            <a:avLst>
              <a:gd name="adj" fmla="val 390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Gather-scatter: three wallets pay one hub, which pays three oth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10650" y="2094161"/>
            <a:ext cx="2159000" cy="1143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106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Gather-scatter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106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 from many, then pay out to many.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484113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Orange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= the wallet to watch. Every one of these shapes also happens in normal business.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 families from IBM's AMLworld synthetic AML datasets (Altman et al., NeurIPS 2023)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Laundering shapes, part 2: loops and layers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2520950" cy="2363440"/>
          </a:xfrm>
          <a:prstGeom prst="roundRect">
            <a:avLst>
              <a:gd name="adj" fmla="val 41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Cycle: five wallets in a lo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94161"/>
            <a:ext cx="2159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Cycle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15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goes round and returns to where it started.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5675" y="1938586"/>
            <a:ext cx="2520950" cy="2363440"/>
          </a:xfrm>
          <a:prstGeom prst="roundRect">
            <a:avLst>
              <a:gd name="adj" fmla="val 41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Stack: two sources, a layer of three middlemen, two destination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1250" y="2094161"/>
            <a:ext cx="215900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12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Layered stack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12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of wallets between source and destination.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5375" y="1938586"/>
            <a:ext cx="2520950" cy="2363440"/>
          </a:xfrm>
          <a:prstGeom prst="roundRect">
            <a:avLst>
              <a:gd name="adj" fmla="val 41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Bipartite: three wallets pay three others, many to man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30950" y="2094161"/>
            <a:ext cx="2159000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309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Bipartite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309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group of wallets pays another, many to many.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55075" y="1938586"/>
            <a:ext cx="2520950" cy="2363440"/>
          </a:xfrm>
          <a:prstGeom prst="roundRect">
            <a:avLst>
              <a:gd name="adj" fmla="val 41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Irregular network: a branching route with merges and a retur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10650" y="2094161"/>
            <a:ext cx="2159000" cy="1143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10650" y="3338761"/>
            <a:ext cx="227609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Irregular network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10650" y="3684191"/>
            <a:ext cx="22760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Branching routes with merges and returns.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461000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cases mix these shapes, spread over hours or days, and across assets.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 families from IBM's AMLworld synthetic AML datasets (Altman et al., NeurIPS 2023)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1 OF 8 · FAN-IN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Fan-in: many wallets feed 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Fan-in: five source wallets pay one collector, which makes one large exit paymen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13275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 (mules)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94187" y="3618161"/>
            <a:ext cx="7399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75585" y="3618161"/>
            <a:ext cx="3092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0" name="Image 1" descr="Collector balance over time: five steps up, then a drop to almost zer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Collector balance: fills in steps, empties at once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46800" y="2164011"/>
            <a:ext cx="538937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wallets, often money mules, each send a modest amount to one collector. The collector then moves the total on in one or a few large payments.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46800" y="303520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46800" y="331460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shop taking customer payments, a fundraiser, or an exchange deposit address.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46800" y="395466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7" name="Text 13"/>
          <p:cNvSpPr/>
          <p:nvPr/>
        </p:nvSpPr>
        <p:spPr>
          <a:xfrm>
            <a:off x="6350000" y="413246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48806" y="441186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 senders into one wallet in a short window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Senders that are new or do nothing else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from the last deposit to the exit payment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 amount close to the sum of the deposits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2 OF 8 · FAN-OUT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Fan-out: one wallet pays many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Fan-out: one source wallet pays five recipien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570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23076" y="3618161"/>
            <a:ext cx="8617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Recipients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ayout amounts: twelve similar bars, all just under a dashed threshold 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Payout sizes: very similar (illustration; dashed line is a US limit)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wallet splits a large balance into many smaller payments. The recipients often pass the money on again, which starts the next layer.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146800" y="3083471"/>
            <a:ext cx="6045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Payroll, refunds, giveaways, or an exchange sending out withdrawals.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46800" y="349240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6" name="Text 12"/>
          <p:cNvSpPr/>
          <p:nvPr/>
        </p:nvSpPr>
        <p:spPr>
          <a:xfrm>
            <a:off x="6350000" y="367020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48806" y="394960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Distinct recipients per sender in a short window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similar the payout amounts are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Recipients that forward the money quickly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source that was funded just before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3 OF 8 · SCATTER-GATHER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Scatter-gather: split, then merge again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Scatter-gather: one source splits across four middle wallets, which all pay one destin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570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841129" y="3618161"/>
            <a:ext cx="9204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Middlemen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280" y="3618161"/>
            <a:ext cx="938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Destination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0" name="Image 1" descr="Timeline with six lanes: the source pays out at the start, each of four middle wallets holds the money for a different time, the destination receives all four near the e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Timeline: one split, four holds (bars), one merge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leaves one wallet through several middlemen and meets again at one destination. Each path on its own looks small and ordinary.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46800" y="308347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company moving money between its own accounts, or an exchange rebalancing.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46800" y="372353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7" name="Text 13"/>
          <p:cNvSpPr/>
          <p:nvPr/>
        </p:nvSpPr>
        <p:spPr>
          <a:xfrm>
            <a:off x="6350000" y="390133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48806" y="418073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Several two-hop paths between the same pair of wallets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out of the source close to value into the destination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 wallets with no other activity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times that are short and similar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4 OF 8 · GATHER-SCATTER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Gather-scatter: a hub in the middle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Gather-scatter: four wallets pay a hub, which pays four other walle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6326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in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186509" y="3618161"/>
            <a:ext cx="3392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31363" y="3618161"/>
            <a:ext cx="7534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0" name="Image 1" descr="Hub flows per hour: blue inflow bars above the line, orange outflow bars below, nearly mirror imag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Hourly flows: in (blue, up) mirrors out (orange)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46800" y="2164011"/>
            <a:ext cx="538937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hub collects from many wallets and pays out to many others. Like a mixing point, it breaks the link between any one sender and any one receiver.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46800" y="303520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46800" y="3314601"/>
            <a:ext cx="53893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exchange hot wallet, a payment processor, or a payroll provider.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46800" y="372353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7" name="Text 13"/>
          <p:cNvSpPr/>
          <p:nvPr/>
        </p:nvSpPr>
        <p:spPr>
          <a:xfrm>
            <a:off x="6350000" y="390133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48806" y="418073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senders and many receivers on one wallet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Little balance kept compared with what flows through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time between money in and money out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Senders and receivers that never overlap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5 OF 8 · CYCLE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Cycle: money goes round and comes home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Cycle: six wallets in a loop; money leaves the origin at the top and returns to i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4503" y="3618161"/>
            <a:ext cx="39873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 at the top; the loop brings the money back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8" name="Image 1" descr="Origin balance: high, drops when money leaves, flat while it travels, back up near the start level at the en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Origin balance: leaves, travels, comes back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Funds leave a wallet, pass through several others and come back. It can fake trading volume, or wash money through a currency round trip.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46800" y="308347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Arbitrage and market making, refunds, or moves between a firm’s own wallets.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46800" y="372353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5" name="Text 11"/>
          <p:cNvSpPr/>
          <p:nvPr/>
        </p:nvSpPr>
        <p:spPr>
          <a:xfrm>
            <a:off x="6350000" y="390133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48806" y="418073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path that returns to its start within a time window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hops the loop has, and how long it took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returned compared with value sent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 that change along the way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6 OF 8 · LAYERED STACK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Layered stack: rows of middlemen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ayered stack: two sources, two layers of three middle wallets, two destinations, every layer paying the nex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6591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23951" y="3618161"/>
            <a:ext cx="5989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26247" y="3618161"/>
            <a:ext cx="5989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7222" y="3618161"/>
            <a:ext cx="10276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Destinations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Value held at each layer: four bars of nearly equal height, slightly lower each ste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at each layer: almost all of it gets through (illustration)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passes through several rows of intermediary wallets. Every layer adds distance between where it came from and where it ends up.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146800" y="308347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 processors and correspondent chains, or a group of companies paying each other.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46800" y="372353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8" name="Text 14"/>
          <p:cNvSpPr/>
          <p:nvPr/>
        </p:nvSpPr>
        <p:spPr>
          <a:xfrm>
            <a:off x="6350000" y="390133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48806" y="418073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Depth: the longest chain a payment can be followed along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Middle wallets used once, then abandoned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kept almost whole from layer to layer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Similar delays at each layer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7 OF 8 · BIPARTITE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Bipartite: one group pays another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Bipartite: four wallets in group A each pay three of four wallets in group 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7338" y="3618161"/>
            <a:ext cx="1381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A (payers)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80148" y="3618161"/>
            <a:ext cx="15826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B (receivers)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9" name="Image 1" descr="Who pays whom: rows are group A wallets, columns are group B wallets then other wallets; the group B block is dense and dark, the rest almost emp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Rows: group A. Columns: group B, then all others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set of wallets pays another set, many to many. Spreading across both sides keeps every single pair small and easy to miss.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146800" y="3083471"/>
            <a:ext cx="53893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Marketplace buyers and sellers, or a company paying its suppliers.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46800" y="349240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6" name="Text 12"/>
          <p:cNvSpPr/>
          <p:nvPr/>
        </p:nvSpPr>
        <p:spPr>
          <a:xfrm>
            <a:off x="6350000" y="367020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48806" y="394960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Dense blocks of payments between two sets of wallets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Groups with few contacts outside the block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pairs active in the same time window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Similar amounts across the pairs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8 OF 8 · IRREGULAR NETWORK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Irregular network: no clean template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87786"/>
            <a:ext cx="5124450" cy="2099270"/>
          </a:xfrm>
          <a:prstGeom prst="roundRect">
            <a:avLst>
              <a:gd name="adj" fmla="val 4689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5" name="Image 0" descr="Irregular network: an entry wallet, six middle wallets with splits, merges and one return, and an exit walle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1550" y="2043361"/>
            <a:ext cx="48260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50" y="3618161"/>
            <a:ext cx="4349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39169" y="3618161"/>
            <a:ext cx="18994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Splits, merges, a return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75585" y="3618161"/>
            <a:ext cx="3092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5975" y="4095006"/>
            <a:ext cx="5124450" cy="1527770"/>
          </a:xfrm>
          <a:prstGeom prst="roundRect">
            <a:avLst>
              <a:gd name="adj" fmla="val 644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pic>
        <p:nvPicPr>
          <p:cNvPr id="10" name="Image 1" descr="Routes from entry to exit by hop count: bars for 3, 4, 5 and 6 hops, highest at 5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550" y="4250581"/>
            <a:ext cx="4826000" cy="952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1550" y="5253881"/>
            <a:ext cx="49576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Routes entry to exit by length: 3, 4, 5, 6 hops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46800" y="188461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146800" y="216401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takes many partial routes, with splits, merges and returns. It is the hardest shape to catch with fixed rules.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46800" y="2804071"/>
            <a:ext cx="53893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Legitimate look-alike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146800" y="3083471"/>
            <a:ext cx="538937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Ordinary peer-to-peer life: friends, families and local traders paying each other.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46800" y="3723531"/>
            <a:ext cx="5232400" cy="1549400"/>
          </a:xfrm>
          <a:prstGeom prst="roundRect">
            <a:avLst>
              <a:gd name="adj" fmla="val 6557"/>
            </a:avLst>
          </a:prstGeom>
          <a:solidFill>
            <a:srgbClr val="ECE8DD"/>
          </a:solidFill>
          <a:ln/>
        </p:spPr>
      </p:sp>
      <p:sp>
        <p:nvSpPr>
          <p:cNvPr id="17" name="Text 13"/>
          <p:cNvSpPr/>
          <p:nvPr/>
        </p:nvSpPr>
        <p:spPr>
          <a:xfrm>
            <a:off x="6350000" y="3901331"/>
            <a:ext cx="49707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Signals to compute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48806" y="4180731"/>
            <a:ext cx="486435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Size and density of the connected group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Number of distinct routes between two wallets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 into the group versus value out of it</a:t>
            </a:r>
            <a:endParaRPr lang="en-US" sz="1200" dirty="0"/>
          </a:p>
          <a:p>
            <a:pPr algn="l" marL="155194" indent="-155194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tightly the activity is packed in time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Behaviour that raises a flag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414167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7036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Rapid pass-through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490391"/>
            <a:ext cx="30391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Money leaves soon after it arrives, and little is kept.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2" y="1938586"/>
            <a:ext cx="3414167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0667" y="217036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Hops with no purpose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0667" y="2490391"/>
            <a:ext cx="30391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chains through wallets that do nothing else.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09" y="1938586"/>
            <a:ext cx="3414216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3584" y="2170361"/>
            <a:ext cx="3039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3584" y="2490391"/>
            <a:ext cx="303918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amount broken into many smaller payments.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343176"/>
            <a:ext cx="3414167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57495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Currency hopping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" y="3894981"/>
            <a:ext cx="30391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Converting through several assets to blur the trail.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92" y="3343176"/>
            <a:ext cx="3414167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0667" y="357495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Round-tripping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0667" y="3894981"/>
            <a:ext cx="30391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Funds come back to where they started, maybe in another asset.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09" y="3343176"/>
            <a:ext cx="3414216" cy="1245840"/>
          </a:xfrm>
          <a:prstGeom prst="roundRect">
            <a:avLst>
              <a:gd name="adj" fmla="val 7900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584" y="3574951"/>
            <a:ext cx="3039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Patterns over 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3584" y="3894981"/>
            <a:ext cx="303918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flow that only makes sense when you look at the whole week.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C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PATTERNS ON A PUBLIC LEDGER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pattern is not proof: two real examples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175250" cy="2382292"/>
          </a:xfrm>
          <a:prstGeom prst="roundRect">
            <a:avLst>
              <a:gd name="adj" fmla="val 413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221161"/>
            <a:ext cx="474840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forwarding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8550" y="2622451"/>
            <a:ext cx="4748403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Wallet A sends </a:t>
            </a:r>
            <a:r>
              <a:rPr lang="en-US" sz="14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 XRP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B. Nineteen seconds later B sends </a:t>
            </a:r>
            <a:r>
              <a:rPr lang="en-US" sz="14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49.999985 XRP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C. The difference, 15 drops, is the fee B paid; the minimum is 10.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8550" y="3522762"/>
            <a:ext cx="474840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Looks like: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layering.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Could be: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automated service passing funds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938586"/>
            <a:ext cx="5175250" cy="2382292"/>
          </a:xfrm>
          <a:prstGeom prst="roundRect">
            <a:avLst>
              <a:gd name="adj" fmla="val 4132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3350" y="2221161"/>
            <a:ext cx="474840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tiny loop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83350" y="2622451"/>
            <a:ext cx="474840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 payments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of 0.00001 XRP each, going round ten accounts in a cycle.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3350" y="3264991"/>
            <a:ext cx="4748403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Looks like: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laundering cycle.</a:t>
            </a:r>
            <a:endParaRPr lang="en-US" sz="1400" dirty="0"/>
          </a:p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Could be: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bot or a test. The total is worth almost nothing.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62885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Exchanges, payroll, merchants and treasury moves make the same shapes. </a:t>
            </a: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separates them.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public XRP Ledger payments, 12 October 2026 (AWS public blockchain data). Purpose not established.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THE CHALLENGE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fictional ledger in the real XRPL format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352313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B5C9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40,131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600871"/>
            <a:ext cx="35231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transactions, with labels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5717" y="1935411"/>
            <a:ext cx="3523183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B5C9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40,101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5717" y="2600871"/>
            <a:ext cx="35231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transactions to 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8683" y="1935411"/>
            <a:ext cx="352313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B5C9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7 days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58683" y="2600871"/>
            <a:ext cx="352313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activity per split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149501"/>
          <a:ext cx="10553700" cy="2155924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is in 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transactions.parquet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row per transaction: sender, fee, payment details as JSON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transfers.parquet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money legs: 1 to 3 rows per transaction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blocks.parquet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Ledger records: index, hash, close time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market_rates.csv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Hourly reference USD price for each asset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labels.csv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Training split only: which transactions are suspicious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Synthetic data in the AWS/SonarX XRP Ledger schema. Not real accounts or real crime.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THE CHALLENGE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Six traps to avoid in the first hour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11956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Score transactions, not transfers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2398961"/>
            <a:ext cx="4978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on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TRANSACTION_HASH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One row per transaction in your CSV.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62675" y="193858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94450" y="211956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XRP comes in drops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94450" y="239896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XRP rows,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SOURCE_VALUE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in drops: 1 XRP = 1,000,000 drops.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2926606"/>
            <a:ext cx="52133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7750" y="310758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An asset is address + symbol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7750" y="3386981"/>
            <a:ext cx="48922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 by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TOKEN_ADDRESS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SYMBOL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USD from two issuers is two assets.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2675" y="2926606"/>
            <a:ext cx="5213350" cy="1067991"/>
          </a:xfrm>
          <a:prstGeom prst="roundRect">
            <a:avLst>
              <a:gd name="adj" fmla="val 92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4450" y="310758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· SendMax is a ceiling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4450" y="338698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is not the cost. The first transfer leg shows what was really paid.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412794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7750" y="430892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· Compare value in USD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7750" y="458832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market_rates.csv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hour that contains the payment.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2675" y="4127946"/>
            <a:ext cx="5213350" cy="854670"/>
          </a:xfrm>
          <a:prstGeom prst="roundRect">
            <a:avLst>
              <a:gd name="adj" fmla="val 11516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4450" y="4308921"/>
            <a:ext cx="48922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· Some fields are JSON text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4450" y="4588321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Parse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EXTRA_TRANSACTION_FIELDS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20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DELIVERED_AMOUNT</a:t>
            </a: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details: README.md in the data package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THE CHALLENGE DATA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is hiding in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Suspicious transactions, by difficulty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85901"/>
            <a:ext cx="6386612" cy="553690"/>
          </a:xfrm>
          <a:custGeom>
            <a:avLst/>
            <a:gdLst/>
            <a:ahLst/>
            <a:cxnLst/>
            <a:rect l="l" t="t" r="r" b="b"/>
            <a:pathLst>
              <a:path w="6386612" h="553690">
                <a:moveTo>
                  <a:pt x="76200" y="0"/>
                </a:moveTo>
                <a:lnTo>
                  <a:pt x="6386612" y="0"/>
                </a:lnTo>
                <a:lnTo>
                  <a:pt x="6386612" y="553690"/>
                </a:lnTo>
                <a:lnTo>
                  <a:pt x="76200" y="55369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2B5C9E"/>
          </a:solidFill>
          <a:ln/>
        </p:spPr>
        <p:txBody>
          <a:bodyPr wrap="square" lIns="177800" tIns="152400" rIns="0" bIns="1270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Easy · 64%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7512" y="2285901"/>
            <a:ext cx="2051794" cy="553690"/>
          </a:xfrm>
          <a:prstGeom prst="rect">
            <a:avLst/>
          </a:prstGeom>
          <a:solidFill>
            <a:srgbClr val="D9971E"/>
          </a:solidFill>
          <a:ln/>
        </p:spPr>
        <p:txBody>
          <a:bodyPr wrap="square" lIns="177800" tIns="152400" rIns="126914" bIns="1270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Medium · 18%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7406" y="2285901"/>
            <a:ext cx="2051794" cy="553690"/>
          </a:xfrm>
          <a:custGeom>
            <a:avLst/>
            <a:gdLst/>
            <a:ahLst/>
            <a:cxnLst/>
            <a:rect l="l" t="t" r="r" b="b"/>
            <a:pathLst>
              <a:path w="2051794" h="553690">
                <a:moveTo>
                  <a:pt x="0" y="0"/>
                </a:moveTo>
                <a:lnTo>
                  <a:pt x="1975594" y="0"/>
                </a:lnTo>
                <a:arcTo hR="76200" wR="76200" stAng="16200000" swAng="5400000"/>
                <a:lnTo>
                  <a:pt x="2051794" y="477490"/>
                </a:lnTo>
                <a:arcTo hR="76200" wR="76200" stAng="0" swAng="5400000"/>
                <a:lnTo>
                  <a:pt x="0" y="553690"/>
                </a:lnTo>
                <a:lnTo>
                  <a:pt x="0" y="0"/>
                </a:lnTo>
                <a:close/>
              </a:path>
            </a:pathLst>
          </a:custGeom>
          <a:solidFill>
            <a:srgbClr val="14213D"/>
          </a:solidFill>
          <a:ln/>
        </p:spPr>
        <p:txBody>
          <a:bodyPr wrap="square" lIns="177800" tIns="152400" rIns="126914" bIns="1270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· 18%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14756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" y="337934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Lots of normal life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7750" y="3699371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Shopping, peer payments, exchange and payroll hubs, legitimate treasury flows. Both sides use conversions.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8892" y="3147566"/>
            <a:ext cx="3414216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0667" y="3379341"/>
            <a:ext cx="3039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means history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0667" y="3699371"/>
            <a:ext cx="303918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 cases span many payments and changing counterparties. Look at whole flows, not single amounts.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61858" y="314756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633" y="337934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is not train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3633" y="3699371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test data has variations absent from training. A few cases are deliberately ambiguous.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Source: README.md in the data package. A suspicious label describes the scenario’s intent, not a rule for real life.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SCORING, RULES, SUBMISSION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Score = 100 × Average Precision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87193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worked example: five transactions, two suspicious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24001"/>
          <a:ext cx="5688211" cy="2155924"/>
        </p:xfrm>
        <a:graphic>
          <a:graphicData uri="http://schemas.openxmlformats.org/drawingml/2006/table">
            <a:tbl>
              <a:tblPr/>
              <a:tblGrid>
                <a:gridCol w="796350"/>
                <a:gridCol w="1251406"/>
                <a:gridCol w="1592699"/>
                <a:gridCol w="204775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Your score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Precision so far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of 1 = 1.00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Legit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 of 3 = 0.67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0.40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Legit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Legit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606925"/>
            <a:ext cx="58719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 = (1.00 + 0.67) ÷ 2 = </a:t>
            </a: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0.83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→ score </a:t>
            </a: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21686" y="1938586"/>
            <a:ext cx="4554339" cy="1118791"/>
          </a:xfrm>
          <a:prstGeom prst="roundRect">
            <a:avLst>
              <a:gd name="adj" fmla="val 879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8061" y="2144961"/>
            <a:ext cx="42658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 order counts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28061" y="2424361"/>
            <a:ext cx="42658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the suspicious ones at the top. Scores need not be probabilities.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21686" y="3190726"/>
            <a:ext cx="4554339" cy="1118791"/>
          </a:xfrm>
          <a:prstGeom prst="roundRect">
            <a:avLst>
              <a:gd name="adj" fmla="val 879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28061" y="3397101"/>
            <a:ext cx="42658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Avoid ties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28061" y="3676501"/>
            <a:ext cx="42658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 scores are grouped as one block. Use continuous scores, not just 0 and 1.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21686" y="4442867"/>
            <a:ext cx="4554339" cy="1118791"/>
          </a:xfrm>
          <a:prstGeom prst="roundRect">
            <a:avLst>
              <a:gd name="adj" fmla="val 879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8061" y="4649242"/>
            <a:ext cx="426583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shown: top 1%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28061" y="4928642"/>
            <a:ext cx="426583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Precision and recall in your top 402 transactions, plus ROC-AUC. Not part of the ranking.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Scored against private organiser labels on all 40,101 test transactions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SCORING, RULES, SUBMISSION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rules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8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17036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Organiser data only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490391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outside transaction or reference data without approval. Public docs and papers are fine.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92" y="193858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0667" y="217036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0667" y="2490391"/>
            <a:ext cx="30391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language or model: rules, statistics, trees, neural nets, graph methods.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809" y="1938586"/>
            <a:ext cx="3414216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3584" y="2170361"/>
            <a:ext cx="3039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allowed, disclosed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3584" y="2490391"/>
            <a:ext cx="303918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LLMs and coding assistants are fine. Name the model and provider; include prompts and settings.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57430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80608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Built on the day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" y="4126111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Libraries and pre-trained models are fine. The work being judged is done during the hackathon.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92" y="3574306"/>
            <a:ext cx="3414167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0667" y="3806081"/>
            <a:ext cx="30391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0667" y="4126111"/>
            <a:ext cx="30391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run command, seeds, dependencies. If we cannot reproduce it, we may retract 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809" y="3574306"/>
            <a:ext cx="3414216" cy="1476970"/>
          </a:xfrm>
          <a:prstGeom prst="roundRect">
            <a:avLst>
              <a:gd name="adj" fmla="val 6664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584" y="3806081"/>
            <a:ext cx="30391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3584" y="4126111"/>
            <a:ext cx="3039186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under an approved licence by the deadline. Every member accepts the terms.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terms: hackathon.ukcbt.org/terms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SCORING, RULES, SUBMISSION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Submit by </a:t>
            </a:r>
            <a:r>
              <a:rPr lang="en-US" sz="3600" b="0" i="0" dirty="0">
                <a:solidFill>
                  <a:srgbClr val="2B5C9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16:30 London</a:t>
            </a: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24 October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two files at </a:t>
            </a:r>
            <a:r>
              <a:rPr lang="en-US" sz="1400" b="1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hackathon.ukcbt.org</a:t>
            </a:r>
            <a:r>
              <a:rPr lang="en-US" sz="14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with your organiser access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390676"/>
            <a:ext cx="5175250" cy="2136080"/>
          </a:xfrm>
          <a:prstGeom prst="roundRect">
            <a:avLst>
              <a:gd name="adj" fmla="val 4608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6478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Predictions CSV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3150" y="3023741"/>
            <a:ext cx="4660900" cy="401290"/>
          </a:xfrm>
          <a:prstGeom prst="roundRect">
            <a:avLst>
              <a:gd name="adj" fmla="val 12659"/>
            </a:avLst>
          </a:prstGeom>
          <a:solidFill>
            <a:srgbClr val="ECE8DD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TRANSACTION_HASH,score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8494" y="3526631"/>
            <a:ext cx="470776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40,101 test transactions, once each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 between 0 and 1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most 12 MiB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0775" y="2390676"/>
            <a:ext cx="5175250" cy="2136080"/>
          </a:xfrm>
          <a:prstGeom prst="roundRect">
            <a:avLst>
              <a:gd name="adj" fmla="val 4608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7950" y="2647851"/>
            <a:ext cx="480072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ZIP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3294" y="3023741"/>
            <a:ext cx="470776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Code, exact run command, seeds, dependencies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list, commit or version, results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Method: under 10 slides or 4 pages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most 8 MiB; no secrets, no installed packages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4783931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 uploads per team per UTC day. The leaderboard shows your best completed run and stays provisional until we verify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Pitch length: to be confirmed on the 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B5C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HOW TO APPROACH THE DAY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plan that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386"/>
            <a:ext cx="3414167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068761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350" y="2381151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and join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673251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Transactions, transfers, rates. Check the row counts.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92" y="1862386"/>
            <a:ext cx="3414167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5267" y="2068761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5267" y="2381151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edge per payment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5267" y="2673251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paid whom, how much in USD, when. The supplied payments.py does this.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1809" y="1862386"/>
            <a:ext cx="3414216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184" y="2068761"/>
            <a:ext cx="3091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8184" y="2381151"/>
            <a:ext cx="30915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the baseline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8184" y="2673251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baseline.py gives you a valid file and a number to beat.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465016"/>
            <a:ext cx="3414167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3671391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2350" y="3983782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Study the labels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2350" y="4275882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at suspicious flows in training. What makes them differ?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8892" y="3465016"/>
            <a:ext cx="3414167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5267" y="3671391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5267" y="3983782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features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5267" y="4275882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Timing, amounts, graph shape, each wallet’s history.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61809" y="3465016"/>
            <a:ext cx="3414216" cy="1443881"/>
          </a:xfrm>
          <a:prstGeom prst="roundRect">
            <a:avLst>
              <a:gd name="adj" fmla="val 6817"/>
            </a:avLst>
          </a:prstGeom>
          <a:solidFill>
            <a:srgbClr val="FDFCF8"/>
          </a:solidFill>
          <a:ln w="6350">
            <a:solidFill>
              <a:srgbClr val="DDD8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8184" y="3671391"/>
            <a:ext cx="3091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B5C9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68184" y="3983782"/>
            <a:ext cx="30915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Validate, then submit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68184" y="4275882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 out part of training and measure AP yourself first.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514067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notes as you go. Judges want to know </a:t>
            </a: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your model works, not only its score.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 · AML training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8B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&amp; DETECT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635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0" i="0" dirty="0">
                <a:solidFill>
                  <a:srgbClr val="F6F4E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600450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synthetic data. A high score here does not prove a method works on real financial crime.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60740"/>
            <a:ext cx="39195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 you at IDEALondon, 24 October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64171" y="5760740"/>
            <a:ext cx="261502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B0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Deadline 16:30 London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ode &amp; Detect AML Training">
  <a:themeElements>
    <a:clrScheme name="Decode &amp; Detect AML Training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2B5C9E"/>
      </a:accent1>
      <a:accent2>
        <a:srgbClr val="E8B04A"/>
      </a:accent2>
      <a:accent3>
        <a:srgbClr val="8FA0B8"/>
      </a:accent3>
      <a:accent4>
        <a:srgbClr val="D9971E"/>
      </a:accent4>
      <a:accent5>
        <a:srgbClr val="3D4756"/>
      </a:accent5>
      <a:accent6>
        <a:srgbClr val="5A6472"/>
      </a:accent6>
      <a:hlink>
        <a:srgbClr val="0563C1"/>
      </a:hlink>
      <a:folHlink>
        <a:srgbClr val="954F72"/>
      </a:folHlink>
    </a:clrScheme>
    <a:fontScheme name="Decode &amp; Detect AML Training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Decode &amp; Detect AML Training</dc:title>
  <dc:subject/>
  <dc:creator/>
  <cp:lastModifiedBy/>
  <cp:revision>1</cp:revision>
  <dcterms:created xsi:type="dcterms:W3CDTF">2026-10-21T19:02:42Z</dcterms:created>
  <dcterms:modified xsi:type="dcterms:W3CDTF">2026-10-21T19:02:42Z</dcterms:modified>
</cp:coreProperties>
</file>